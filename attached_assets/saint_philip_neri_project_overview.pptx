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45980" y="350520"/>
            <a:ext cx="195072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01  / 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27760"/>
            <a:ext cx="68580" cy="3848099"/>
          </a:xfrm>
          <a:prstGeom prst="rect">
            <a:avLst/>
          </a:prstGeom>
          <a:solidFill>
            <a:srgbClr val="D8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40" y="1249680"/>
            <a:ext cx="1095756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840">
                <a:solidFill>
                  <a:srgbClr val="F8F4EC"/>
                </a:solidFill>
                <a:latin typeface="DejaVu Sans"/>
              </a:defRPr>
            </a:pPr>
            <a:r>
              <a:t>School paperwork,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1950720"/>
            <a:ext cx="1095756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840">
                <a:solidFill>
                  <a:srgbClr val="F1D28B"/>
                </a:solidFill>
                <a:latin typeface="DejaVu Sans"/>
              </a:defRPr>
            </a:pPr>
            <a:r>
              <a:t>made simpler.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048000"/>
            <a:ext cx="109347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739">
                <a:solidFill>
                  <a:srgbClr val="B6C2CD"/>
                </a:solidFill>
                <a:latin typeface="DejaVu Sans"/>
              </a:defRPr>
            </a:pPr>
            <a:r>
              <a:t>A connected space for parents to complete forms,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36620"/>
            <a:ext cx="109347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739">
                <a:solidFill>
                  <a:srgbClr val="B6C2CD"/>
                </a:solidFill>
                <a:latin typeface="DejaVu Sans"/>
              </a:defRPr>
            </a:pPr>
            <a:r>
              <a:t>find volunteer work and track service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0100" y="1386840"/>
            <a:ext cx="2423160" cy="2423160"/>
          </a:xfrm>
          <a:prstGeom prst="roundRect">
            <a:avLst/>
          </a:prstGeom>
          <a:solidFill>
            <a:srgbClr val="1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440" y="1821180"/>
            <a:ext cx="1562100" cy="156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632960"/>
            <a:ext cx="109347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320">
                <a:solidFill>
                  <a:srgbClr val="9DD9BF"/>
                </a:solidFill>
                <a:latin typeface="DejaVu Sans"/>
              </a:defRPr>
            </a:pPr>
            <a:r>
              <a:t>PARENT EXPERIENCE  +  ADMIN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360" y="350520"/>
            <a:ext cx="119634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THE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02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THE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A simpler way to stay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One school process, shared by families and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674620"/>
            <a:ext cx="3467100" cy="26593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620" y="2926080"/>
            <a:ext cx="53340" cy="320040"/>
          </a:xfrm>
          <a:prstGeom prst="roundRect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" y="2933700"/>
            <a:ext cx="1083564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F1D28B"/>
                </a:solidFill>
                <a:latin typeface="DejaVu Sans"/>
              </a:defRPr>
            </a:pPr>
            <a:r>
              <a:t>01  / 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9480"/>
            <a:ext cx="1103376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Know what is due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4780"/>
            <a:ext cx="1103376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Review required paperwork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4820"/>
            <a:ext cx="1103376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and submit it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8640" y="2674620"/>
            <a:ext cx="3467100" cy="26593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9140" y="2926080"/>
            <a:ext cx="53340" cy="320040"/>
          </a:xfrm>
          <a:prstGeom prst="roundRect">
            <a:avLst/>
          </a:prstGeom>
          <a:solidFill>
            <a:srgbClr val="9DD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933700"/>
            <a:ext cx="705612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9DD9BF"/>
                </a:solidFill>
                <a:latin typeface="DejaVu Sans"/>
              </a:defRPr>
            </a:pPr>
            <a:r>
              <a:t>02  /  VOLUNTEERING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6760" y="3459480"/>
            <a:ext cx="725424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Find ways to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954780"/>
            <a:ext cx="725424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See available jobs 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4274820"/>
            <a:ext cx="725424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sign up when eligible.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674620"/>
            <a:ext cx="3467100" cy="26593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8659" y="2926080"/>
            <a:ext cx="53340" cy="320040"/>
          </a:xfrm>
          <a:prstGeom prst="roundRect">
            <a:avLst/>
          </a:prstGeom>
          <a:solidFill>
            <a:srgbClr val="D8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400" y="2933700"/>
            <a:ext cx="327660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D84755"/>
                </a:solidFill>
                <a:latin typeface="DejaVu Sans"/>
              </a:defRPr>
            </a:pPr>
            <a:r>
              <a:t>03  / 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280" y="3459480"/>
            <a:ext cx="347472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Keep a clear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280" y="3954780"/>
            <a:ext cx="347472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Log service sessions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6280" y="4274820"/>
            <a:ext cx="347472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admin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89939" y="350520"/>
            <a:ext cx="170676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PARENT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03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FOR PARENTS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Everything starts at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Four focused sections keep the parent experience organized.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628900"/>
            <a:ext cx="11033760" cy="266700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" y="2933700"/>
            <a:ext cx="2491740" cy="609600"/>
          </a:xfrm>
          <a:prstGeom prst="roundRect">
            <a:avLst/>
          </a:prstGeom>
          <a:solidFill>
            <a:srgbClr val="27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070860"/>
            <a:ext cx="108585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680">
                <a:solidFill>
                  <a:srgbClr val="F1D28B"/>
                </a:solidFill>
                <a:latin typeface="DejaVu Sans"/>
              </a:defRPr>
            </a:pPr>
            <a:r>
              <a:t>My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60" y="3947160"/>
            <a:ext cx="1094994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060" y="4190999"/>
            <a:ext cx="1094994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and submitted paperwork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8060" y="2933700"/>
            <a:ext cx="2491740" cy="609600"/>
          </a:xfrm>
          <a:prstGeom prst="roundRect">
            <a:avLst/>
          </a:prstGeom>
          <a:solidFill>
            <a:srgbClr val="27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0460" y="3070860"/>
            <a:ext cx="81305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680">
                <a:solidFill>
                  <a:srgbClr val="9DD9BF"/>
                </a:solidFill>
                <a:latin typeface="DejaVu Sans"/>
              </a:defRPr>
            </a:pPr>
            <a: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020" y="3947160"/>
            <a:ext cx="822198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Volunteer opportunities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6020" y="2933700"/>
            <a:ext cx="2491740" cy="609600"/>
          </a:xfrm>
          <a:prstGeom prst="roundRect">
            <a:avLst/>
          </a:prstGeom>
          <a:solidFill>
            <a:srgbClr val="27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420" y="3070860"/>
            <a:ext cx="54025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680">
                <a:solidFill>
                  <a:srgbClr val="D84755"/>
                </a:solidFill>
                <a:latin typeface="DejaVu Sans"/>
              </a:defRPr>
            </a:pPr>
            <a:r>
              <a:t>Labor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6980" y="3947160"/>
            <a:ext cx="549402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6980" y="4190999"/>
            <a:ext cx="549402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and service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2933700"/>
            <a:ext cx="2491740" cy="609600"/>
          </a:xfrm>
          <a:prstGeom prst="roundRect">
            <a:avLst/>
          </a:prstGeom>
          <a:solidFill>
            <a:srgbClr val="27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6380" y="3070860"/>
            <a:ext cx="26746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680">
                <a:solidFill>
                  <a:srgbClr val="F1D28B"/>
                </a:solidFill>
                <a:latin typeface="DejaVu Sans"/>
              </a:defRPr>
            </a:pPr>
            <a:r>
              <a:t>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4940" y="3947160"/>
            <a:ext cx="27660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940" y="4190999"/>
            <a:ext cx="2766060" cy="205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080">
                <a:solidFill>
                  <a:srgbClr val="B6C2CD"/>
                </a:solidFill>
                <a:latin typeface="DejaVu Sans"/>
              </a:defRPr>
            </a:pPr>
            <a:r>
              <a:t>and classroom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" y="4823460"/>
            <a:ext cx="109575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Top navigation: Dashboard  /  Notifications  /  Parent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95660" y="350520"/>
            <a:ext cx="70104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04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PARENT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Paperwork without the chase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Parents can see what needs attention and what is already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651760"/>
            <a:ext cx="5273040" cy="26974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620" y="2903220"/>
            <a:ext cx="53340" cy="320040"/>
          </a:xfrm>
          <a:prstGeom prst="roundRect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" y="2910840"/>
            <a:ext cx="1083564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F1D28B"/>
                </a:solidFill>
                <a:latin typeface="DejaVu Sans"/>
              </a:defRPr>
            </a:pPr>
            <a:r>
              <a:t>PENDING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36620"/>
            <a:ext cx="1103376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Review &amp;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1103376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See active forms and deadlines.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103376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Open a form and submit it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1240" y="2651760"/>
            <a:ext cx="5501640" cy="26974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1740" y="2903220"/>
            <a:ext cx="53340" cy="320040"/>
          </a:xfrm>
          <a:prstGeom prst="roundRect">
            <a:avLst/>
          </a:prstGeom>
          <a:solidFill>
            <a:srgbClr val="9DD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480" y="2910840"/>
            <a:ext cx="530352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9DD9BF"/>
                </a:solidFill>
                <a:latin typeface="DejaVu Sans"/>
              </a:defRPr>
            </a:pPr>
            <a:r>
              <a:t>SUBMITTED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36620"/>
            <a:ext cx="550164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Revisit past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50164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Check submission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51960"/>
            <a:ext cx="550164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View or edit a submitted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8900" y="350520"/>
            <a:ext cx="144780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VOLUNTEER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05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PARENT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Turn interest into involvement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Jobs, signups and eligibility all live in the same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750820"/>
            <a:ext cx="3467100" cy="24307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41320"/>
            <a:ext cx="1103376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800">
                <a:solidFill>
                  <a:srgbClr val="D84755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1033760" cy="422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2220">
                <a:solidFill>
                  <a:srgbClr val="F8F4EC"/>
                </a:solidFill>
                <a:latin typeface="DejaVu Sans"/>
              </a:defRPr>
            </a:pPr>
            <a:r>
              <a:t>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10337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Browse active school jobs.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750820"/>
            <a:ext cx="3467100" cy="24307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2941320"/>
            <a:ext cx="726948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800">
                <a:solidFill>
                  <a:srgbClr val="D84755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3474720"/>
            <a:ext cx="7269480" cy="422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2220">
                <a:solidFill>
                  <a:srgbClr val="F8F4EC"/>
                </a:solidFill>
                <a:latin typeface="DejaVu Sans"/>
              </a:defRPr>
            </a:pPr>
            <a:r>
              <a:t>Qualify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520" y="4160520"/>
            <a:ext cx="7269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Eligibility is checked for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520" y="4381500"/>
            <a:ext cx="7269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working with children.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2750820"/>
            <a:ext cx="3467100" cy="24307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2941320"/>
            <a:ext cx="35052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800">
                <a:solidFill>
                  <a:srgbClr val="D84755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474720"/>
            <a:ext cx="3505200" cy="422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2220">
                <a:solidFill>
                  <a:srgbClr val="F8F4EC"/>
                </a:solidFill>
                <a:latin typeface="DejaVu Sans"/>
              </a:defRPr>
            </a:pPr>
            <a:r>
              <a:t>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4160520"/>
            <a:ext cx="3505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Sign up for opportunities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4381500"/>
            <a:ext cx="3505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B6C2CD"/>
                </a:solidFill>
                <a:latin typeface="DejaVu Sans"/>
              </a:defRPr>
            </a:pPr>
            <a:r>
              <a:t>that 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50520"/>
            <a:ext cx="122682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LABOR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06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PARENT + ADMIN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From work session to verified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A simple sequence makes volunteer time easier to document.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743200"/>
            <a:ext cx="3467100" cy="23164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620" y="2994660"/>
            <a:ext cx="53340" cy="320040"/>
          </a:xfrm>
          <a:prstGeom prst="roundRect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" y="3002280"/>
            <a:ext cx="1083564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F1D28B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8060"/>
            <a:ext cx="1103376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Check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1103376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Start a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43200"/>
            <a:ext cx="3467100" cy="23164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33900" y="2994660"/>
            <a:ext cx="53340" cy="320040"/>
          </a:xfrm>
          <a:prstGeom prst="roundRect">
            <a:avLst/>
          </a:prstGeom>
          <a:solidFill>
            <a:srgbClr val="9DD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9640" y="3002280"/>
            <a:ext cx="707136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9DD9B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520" y="3528060"/>
            <a:ext cx="726948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Check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4023360"/>
            <a:ext cx="72694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Record time worked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680" y="2743200"/>
            <a:ext cx="3467100" cy="231648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2994660"/>
            <a:ext cx="53340" cy="320040"/>
          </a:xfrm>
          <a:prstGeom prst="roundRect">
            <a:avLst/>
          </a:prstGeom>
          <a:solidFill>
            <a:srgbClr val="D8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002280"/>
            <a:ext cx="330708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D84755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3528060"/>
            <a:ext cx="35052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739">
                <a:solidFill>
                  <a:srgbClr val="F8F4EC"/>
                </a:solidFill>
                <a:latin typeface="DejaVu Sans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023360"/>
            <a:ext cx="350520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60">
                <a:solidFill>
                  <a:srgbClr val="B6C2CD"/>
                </a:solidFill>
                <a:latin typeface="DejaVu Sans"/>
              </a:defRPr>
            </a:pPr>
            <a:r>
              <a:t>Admin confirms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80" y="5494020"/>
            <a:ext cx="1120902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320">
                <a:solidFill>
                  <a:srgbClr val="B6C2CD"/>
                </a:solidFill>
                <a:latin typeface="DejaVu Sans"/>
              </a:defRPr>
            </a:pPr>
            <a:r>
              <a:t>Parents can review history and print or export service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360" y="350520"/>
            <a:ext cx="119634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ADMIN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07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95250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D84755"/>
                </a:solidFill>
                <a:latin typeface="DejaVu Sans"/>
              </a:defRPr>
            </a:pPr>
            <a:r>
              <a:t>FOR ADMINISTRATORS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310640"/>
            <a:ext cx="112318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3360">
                <a:solidFill>
                  <a:srgbClr val="F8F4EC"/>
                </a:solidFill>
                <a:latin typeface="DejaVu Sans"/>
              </a:defRPr>
            </a:pPr>
            <a:r>
              <a:t>The tools behind the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" y="1981199"/>
            <a:ext cx="1120902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500">
                <a:solidFill>
                  <a:srgbClr val="B6C2CD"/>
                </a:solidFill>
                <a:latin typeface="DejaVu Sans"/>
              </a:defRPr>
            </a:pPr>
            <a:r>
              <a:t>Manage requests, eligibility and service records from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120" y="2621280"/>
            <a:ext cx="11033760" cy="58674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620" y="2819400"/>
            <a:ext cx="198120" cy="198120"/>
          </a:xfrm>
          <a:prstGeom prst="ellipse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1100" y="2720340"/>
            <a:ext cx="1062990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560">
                <a:solidFill>
                  <a:srgbClr val="F8F4EC"/>
                </a:solidFill>
                <a:latin typeface="DejaVu Sans"/>
              </a:defRPr>
            </a:pPr>
            <a: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399" y="2773680"/>
            <a:ext cx="301740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140">
                <a:solidFill>
                  <a:srgbClr val="B6C2CD"/>
                </a:solidFill>
                <a:latin typeface="DejaVu Sans"/>
              </a:defRPr>
            </a:pPr>
            <a:r>
              <a:t>Forms, submissions and school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120" y="3360420"/>
            <a:ext cx="11033760" cy="58674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9620" y="3558540"/>
            <a:ext cx="198120" cy="198120"/>
          </a:xfrm>
          <a:prstGeom prst="ellipse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100" y="3459480"/>
            <a:ext cx="1062990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560">
                <a:solidFill>
                  <a:srgbClr val="F8F4EC"/>
                </a:solidFill>
                <a:latin typeface="DejaVu Sans"/>
              </a:defRPr>
            </a:pPr>
            <a: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5019" y="3512820"/>
            <a:ext cx="262878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140">
                <a:solidFill>
                  <a:srgbClr val="B6C2CD"/>
                </a:solidFill>
                <a:latin typeface="DejaVu Sans"/>
              </a:defRPr>
            </a:pPr>
            <a:r>
              <a:t>Review volunteer job applications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120" y="4099560"/>
            <a:ext cx="11033760" cy="58674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9620" y="4297680"/>
            <a:ext cx="198120" cy="198120"/>
          </a:xfrm>
          <a:prstGeom prst="ellipse">
            <a:avLst/>
          </a:prstGeom>
          <a:solidFill>
            <a:srgbClr val="F1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1100" y="4198620"/>
            <a:ext cx="1062990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560">
                <a:solidFill>
                  <a:srgbClr val="F8F4EC"/>
                </a:solidFill>
                <a:latin typeface="DejaVu Sans"/>
              </a:defRPr>
            </a:pPr>
            <a:r>
              <a:t>Verify Parents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3520" y="4251960"/>
            <a:ext cx="224028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140">
                <a:solidFill>
                  <a:srgbClr val="B6C2CD"/>
                </a:solidFill>
                <a:latin typeface="DejaVu Sans"/>
              </a:defRPr>
            </a:pPr>
            <a:r>
              <a:t>Manage parent job eligibility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120" y="4838700"/>
            <a:ext cx="11033760" cy="586740"/>
          </a:xfrm>
          <a:prstGeom prst="roundRect">
            <a:avLst/>
          </a:prstGeom>
          <a:solidFill>
            <a:srgbClr val="1D2D3C"/>
          </a:solidFill>
          <a:ln w="15240">
            <a:solidFill>
              <a:srgbClr val="455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9620" y="5036820"/>
            <a:ext cx="198120" cy="198120"/>
          </a:xfrm>
          <a:prstGeom prst="ellipse">
            <a:avLst/>
          </a:prstGeom>
          <a:solidFill>
            <a:srgbClr val="D8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1100" y="4937760"/>
            <a:ext cx="1062990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560">
                <a:solidFill>
                  <a:srgbClr val="F8F4EC"/>
                </a:solidFill>
                <a:latin typeface="DejaVu Sans"/>
              </a:defRPr>
            </a:pPr>
            <a:r>
              <a:t>Labor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3099" y="4991100"/>
            <a:ext cx="275070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140">
                <a:solidFill>
                  <a:srgbClr val="B6C2CD"/>
                </a:solidFill>
                <a:latin typeface="DejaVu Sans"/>
              </a:defRPr>
            </a:pPr>
            <a:r>
              <a:t>Review sessions and confirm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980" y="5707380"/>
            <a:ext cx="112090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200">
                <a:solidFill>
                  <a:srgbClr val="9DD9BF"/>
                </a:solidFill>
                <a:latin typeface="DejaVu Sans"/>
              </a:defRPr>
            </a:pPr>
            <a:r>
              <a:t>Also available: job postings and all-parent service-hour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120" y="350520"/>
            <a:ext cx="11231880" cy="2400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260">
                <a:solidFill>
                  <a:srgbClr val="F1D28B"/>
                </a:solidFill>
                <a:latin typeface="DejaVu Sans"/>
              </a:defRPr>
            </a:pPr>
            <a:r>
              <a:t>SAINT PHILIP 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240" y="350520"/>
            <a:ext cx="215646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019">
                <a:solidFill>
                  <a:srgbClr val="B6C2CD"/>
                </a:solidFill>
                <a:latin typeface="DejaVu Sans"/>
              </a:defRPr>
            </a:pPr>
            <a:r>
              <a:t>A CONNECTED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" y="6263640"/>
            <a:ext cx="11033760" cy="15240"/>
          </a:xfrm>
          <a:prstGeom prst="rect">
            <a:avLst/>
          </a:prstGeom>
          <a:solidFill>
            <a:srgbClr val="45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120" y="6431280"/>
            <a:ext cx="112318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SCHOOL PAPERWORK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4700" y="6431280"/>
            <a:ext cx="6781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900">
                <a:solidFill>
                  <a:srgbClr val="B6C2CD"/>
                </a:solidFill>
                <a:latin typeface="DejaVu Sans"/>
              </a:defRPr>
            </a:pPr>
            <a:r>
              <a:t>08  /  08</a:t>
            </a:r>
          </a:p>
        </p:txBody>
      </p:sp>
      <p:sp>
        <p:nvSpPr>
          <p:cNvPr id="8" name="Oval 7"/>
          <p:cNvSpPr/>
          <p:nvPr/>
        </p:nvSpPr>
        <p:spPr>
          <a:xfrm>
            <a:off x="5547360" y="1150620"/>
            <a:ext cx="1097280" cy="1097280"/>
          </a:xfrm>
          <a:prstGeom prst="ellipse">
            <a:avLst/>
          </a:prstGeom>
          <a:solidFill>
            <a:srgbClr val="D8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5020" y="1280160"/>
            <a:ext cx="5935980" cy="982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5160">
                <a:solidFill>
                  <a:srgbClr val="F8F4EC"/>
                </a:solidFill>
                <a:latin typeface="DejaVu Sa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2689860"/>
            <a:ext cx="4914900" cy="765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4019">
                <a:solidFill>
                  <a:srgbClr val="F8F4EC"/>
                </a:solidFill>
                <a:latin typeface="DejaVu Sans"/>
              </a:defRPr>
            </a:pPr>
            <a:r>
              <a:t>Less paperwork.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3700" y="3474720"/>
            <a:ext cx="6324600" cy="765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4019">
                <a:solidFill>
                  <a:srgbClr val="F1D28B"/>
                </a:solidFill>
                <a:latin typeface="DejaVu Sans"/>
              </a:defRPr>
            </a:pPr>
            <a:r>
              <a:t>More time for school.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1588" y="4564380"/>
            <a:ext cx="4868822" cy="3086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0" sz="1620">
                <a:solidFill>
                  <a:srgbClr val="B6C2CD"/>
                </a:solidFill>
                <a:latin typeface="DejaVu Sans"/>
              </a:defRPr>
            </a:pPr>
            <a:r>
              <a:t>Forms  •  Jobs  •  Labor hours  • 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539" y="5234940"/>
            <a:ext cx="3748920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b="1" sz="1140">
                <a:solidFill>
                  <a:srgbClr val="9DD9BF"/>
                </a:solidFill>
                <a:latin typeface="DejaVu Sans"/>
              </a:defRPr>
            </a:pPr>
            <a:r>
              <a:t>SAINT PHILIP NERI  /  SCHOOL PAPERWORK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